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>
                <a:solidFill>
                  <a:srgbClr val="10181C"/>
                </a:solidFill>
                <a:latin typeface="Segoe UI"/>
              </a:rPr>
              <a:t>الملخّص التنفيذي — ACMS</a:t>
            </a:r>
          </a:p>
          <a:p>
            <a:pPr algn="r" rtl="1"/>
            <a:r>
              <a:rPr sz="1600">
                <a:solidFill>
                  <a:srgbClr val="6F8089"/>
                </a:solidFill>
                <a:latin typeface="Segoe UI"/>
              </a:rPr>
              <a:t>حتى 2026-08-10 10:21 UTC · مولَّد آليًا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>
                <a:solidFill>
                  <a:srgbClr val="0D6F7C"/>
                </a:solidFill>
                <a:latin typeface="Segoe UI"/>
              </a:rPr>
              <a:t>مؤشرات الأداء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الـPipeline المرجَّح   </a:t>
            </a:r>
            <a:r>
              <a:rPr sz="1600" b="1">
                <a:solidFill>
                  <a:srgbClr val="0D6F7C"/>
                </a:solidFill>
                <a:latin typeface="Consolas"/>
              </a:rPr>
              <a:t>11,050,000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نسبة الفوز   </a:t>
            </a:r>
            <a:r>
              <a:rPr sz="1600" b="1">
                <a:solidFill>
                  <a:srgbClr val="0D6F7C"/>
                </a:solidFill>
                <a:latin typeface="Consolas"/>
              </a:rPr>
              <a:t>50.00%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دقة التوقع   </a:t>
            </a:r>
            <a:r>
              <a:rPr sz="1600" b="1">
                <a:solidFill>
                  <a:srgbClr val="0D6F7C"/>
                </a:solidFill>
                <a:latin typeface="Consolas"/>
              </a:rPr>
              <a:t>0.00%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موافقات مفتوحة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1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متوسط انتظار الموافقة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0.41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الهامش الإجمالي   </a:t>
            </a:r>
            <a:r>
              <a:rPr sz="1600" b="1">
                <a:solidFill>
                  <a:srgbClr val="0D6F7C"/>
                </a:solidFill>
                <a:latin typeface="Consolas"/>
              </a:rPr>
              <a:t>30.44%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>
                <a:solidFill>
                  <a:srgbClr val="0D6F7C"/>
                </a:solidFill>
                <a:latin typeface="Segoe UI"/>
              </a:rPr>
              <a:t>الـPipeline حسب المرحلة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تقديم العرض — 1 فرصة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9,500,000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استقبال — 2 فرصة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5,200,000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التكلفة والتوريد — 1 فرصة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4,200,000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تأهيل مبدئي — 1 فرصة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2,600,000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استراتيجية العطاء — 1 فرصة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1,800,000 USD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>
                <a:solidFill>
                  <a:srgbClr val="0D6F7C"/>
                </a:solidFill>
                <a:latin typeface="Segoe UI"/>
              </a:rPr>
              <a:t>أكبر الفرص المفتوحة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OPP-2026-000003 — National Fiber Backbone   </a:t>
            </a:r>
            <a:r>
              <a:rPr sz="1600" b="1">
                <a:solidFill>
                  <a:srgbClr val="0D6F7C"/>
                </a:solidFill>
                <a:latin typeface="Consolas"/>
              </a:rPr>
              <a:t>9,500,000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OPP-2026-000013 — FTTH Khartoum 240 Cabinets   </a:t>
            </a:r>
            <a:r>
              <a:rPr sz="1600" b="1">
                <a:solidFill>
                  <a:srgbClr val="0D6F7C"/>
                </a:solidFill>
                <a:latin typeface="Consolas"/>
              </a:rPr>
              <a:t>5,200,000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OPP-2026-000001 — FTTH Rollout — 120 Cabinets   </a:t>
            </a:r>
            <a:r>
              <a:rPr sz="1600" b="1">
                <a:solidFill>
                  <a:srgbClr val="0D6F7C"/>
                </a:solidFill>
                <a:latin typeface="Consolas"/>
              </a:rPr>
              <a:t>4,200,000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OPP-2026-000004 — Government Network Modernization   </a:t>
            </a:r>
            <a:r>
              <a:rPr sz="1600" b="1">
                <a:solidFill>
                  <a:srgbClr val="0D6F7C"/>
                </a:solidFill>
                <a:latin typeface="Consolas"/>
              </a:rPr>
              <a:t>2,600,000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OPP-2026-000002 — Wireless Backhaul Expansion   </a:t>
            </a:r>
            <a:r>
              <a:rPr sz="1600" b="1">
                <a:solidFill>
                  <a:srgbClr val="0D6F7C"/>
                </a:solidFill>
                <a:latin typeface="Consolas"/>
              </a:rPr>
              <a:t>1,800,000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OPP-2026-000012 — توريد وتركيب شبكة ألياف ضوئية حتى المنزل (FTTH) لعدد 240 كابينة — ولاية الخرطوم   </a:t>
            </a:r>
            <a:r>
              <a:rPr sz="1600" b="1">
                <a:solidFill>
                  <a:srgbClr val="0D6F7C"/>
                </a:solidFill>
                <a:latin typeface="Consolas"/>
              </a:rPr>
              <a:t>0 USD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>
                <a:solidFill>
                  <a:srgbClr val="0D6F7C"/>
                </a:solidFill>
                <a:latin typeface="Segoe UI"/>
              </a:rPr>
              <a:t>مواعيد المناقصات · 60 يومًا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500">
                <a:solidFill>
                  <a:srgbClr val="10181C"/>
                </a:solidFill>
                <a:latin typeface="Segoe UI"/>
              </a:rPr>
              <a:t>•  MGF/NB/2026/007 — 2026-08-16</a:t>
            </a:r>
          </a:p>
          <a:p>
            <a:pPr algn="r" rtl="1">
              <a:spcAft>
                <a:spcPts val="900"/>
              </a:spcAft>
            </a:pPr>
            <a:r>
              <a:rPr sz="1500">
                <a:solidFill>
                  <a:srgbClr val="10181C"/>
                </a:solidFill>
                <a:latin typeface="Segoe UI"/>
              </a:rPr>
              <a:t>•  STE/2026/FTTH/114 — 2026-08-28</a:t>
            </a:r>
          </a:p>
          <a:p>
            <a:pPr algn="r" rtl="1">
              <a:spcAft>
                <a:spcPts val="900"/>
              </a:spcAft>
            </a:pPr>
            <a:r>
              <a:rPr sz="1500">
                <a:solidFill>
                  <a:srgbClr val="10181C"/>
                </a:solidFill>
                <a:latin typeface="Segoe UI"/>
              </a:rPr>
              <a:t>•  EAM-RFP-2026-33 — 2026-09-24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>
                <a:solidFill>
                  <a:srgbClr val="0D6F7C"/>
                </a:solidFill>
                <a:latin typeface="Segoe UI"/>
              </a:rPr>
              <a:t>الحصيلة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مفتوحة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6 · 23,300,000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مكسوبة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3 · 5,090,000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مخسورة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3 · 6,530,000 USD</a:t>
            </a:r>
          </a:p>
          <a:p>
            <a:pPr algn="r" rtl="1">
              <a:spcAft>
                <a:spcPts val="900"/>
              </a:spcAft>
            </a:pPr>
            <a:r>
              <a:rPr sz="1600">
                <a:solidFill>
                  <a:srgbClr val="10181C"/>
                </a:solidFill>
                <a:latin typeface="Segoe UI"/>
              </a:rPr>
              <a:t>موافقات معلّقة   </a:t>
            </a:r>
            <a:r>
              <a:rPr sz="1600" b="1">
                <a:solidFill>
                  <a:srgbClr val="0D6F7C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>
                <a:solidFill>
                  <a:srgbClr val="0D6F7C"/>
                </a:solidFill>
                <a:latin typeface="Segoe UI"/>
              </a:rPr>
              <a:t>قراءة تنفيذية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500">
                <a:solidFill>
                  <a:srgbClr val="10181C"/>
                </a:solidFill>
                <a:latin typeface="Segoe UI"/>
              </a:rPr>
              <a:t>•  الوضع الحالي يُظهر تحسناً في الأداء مع مخاطر محتملة في المراحل المتأخرة وخطوة متابعة عاجلة.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